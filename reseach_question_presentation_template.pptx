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1"/>
  </p:notesMasterIdLst>
  <p:handoutMasterIdLst>
    <p:handoutMasterId r:id="rId12"/>
  </p:handoutMasterIdLst>
  <p:sldIdLst>
    <p:sldId id="337" r:id="rId5"/>
    <p:sldId id="289" r:id="rId6"/>
    <p:sldId id="340" r:id="rId7"/>
    <p:sldId id="329" r:id="rId8"/>
    <p:sldId id="336" r:id="rId9"/>
    <p:sldId id="34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9" userDrawn="1">
          <p15:clr>
            <a:srgbClr val="A4A3A4"/>
          </p15:clr>
        </p15:guide>
        <p15:guide id="4" pos="7068" userDrawn="1">
          <p15:clr>
            <a:srgbClr val="A4A3A4"/>
          </p15:clr>
        </p15:guide>
        <p15:guide id="5" orient="horz" pos="13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7CBE"/>
    <a:srgbClr val="85509A"/>
    <a:srgbClr val="714484"/>
    <a:srgbClr val="0073CF"/>
    <a:srgbClr val="203232"/>
    <a:srgbClr val="30454F"/>
    <a:srgbClr val="1295D8"/>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B1EB13-4B4A-3A65-7705-B39B10420BC6}" v="11" dt="2025-11-07T13:21:13.889"/>
    <p1510:client id="{94404E7A-4EB2-D0DE-A758-3B2FEF7E6025}" v="1178" dt="2025-11-07T14:31:40.7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guide orient="horz" pos="2160"/>
        <p:guide pos="3840"/>
        <p:guide orient="horz" pos="3249"/>
        <p:guide pos="7068"/>
        <p:guide orient="horz" pos="13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pPr/>
              <a:t>02/12/2025</a:t>
            </a:fld>
            <a:endParaRPr lang="en-GB"/>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pPr/>
              <a:t>‹#›</a:t>
            </a:fld>
            <a:endParaRPr lang="en-GB"/>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pPr/>
              <a:t>02/12/2025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pPr/>
              <a:t>‹#›</a:t>
            </a:fld>
            <a:endParaRPr lang="en-GB"/>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3</a:t>
            </a:fld>
            <a:endParaRPr lang="en-GB"/>
          </a:p>
        </p:txBody>
      </p:sp>
    </p:spTree>
    <p:extLst>
      <p:ext uri="{BB962C8B-B14F-4D97-AF65-F5344CB8AC3E}">
        <p14:creationId xmlns:p14="http://schemas.microsoft.com/office/powerpoint/2010/main" val="3956718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Before specifying your Research Question you must define the type of data you are analysing.  Are the variables you select interval data (measurement data you can divide, multiple, etc),  OR are they ordinal (there is a definite order but the intervals between each variable are not necessarily equal, or the terms might be subjective like in a </a:t>
            </a:r>
            <a:r>
              <a:rPr lang="en-GB" err="1"/>
              <a:t>likert</a:t>
            </a:r>
            <a:r>
              <a:rPr lang="en-GB"/>
              <a:t> scale); OR are they just categorical/nominal (Items such as film names, cities, etc., that you can count numbers of occurrences?   You also need to understand whether the variable is either dependent or independent and this will vary according to the context. Independent variables may cause an effect, whereas the dependent variable might be effected by the independent variable.  Check the lecture notes on the RQ for more information and examples.  </a:t>
            </a:r>
          </a:p>
          <a:p>
            <a:endParaRPr lang="en-GB"/>
          </a:p>
          <a:p>
            <a:r>
              <a:rPr lang="en-GB"/>
              <a:t>You will get only one opportunity to present your Research Question ahead of the submission date.  Have your questions ready, and be ready to take notes on feedback.</a:t>
            </a:r>
          </a:p>
        </p:txBody>
      </p:sp>
      <p:sp>
        <p:nvSpPr>
          <p:cNvPr id="4" name="Slide Number Placeholder 3"/>
          <p:cNvSpPr>
            <a:spLocks noGrp="1"/>
          </p:cNvSpPr>
          <p:nvPr>
            <p:ph type="sldNum" sz="quarter" idx="5"/>
          </p:nvPr>
        </p:nvSpPr>
        <p:spPr/>
        <p:txBody>
          <a:bodyPr/>
          <a:lstStyle/>
          <a:p>
            <a:fld id="{30370952-48CC-46D7-9FCD-59FAD40CC025}" type="slidenum">
              <a:rPr lang="en-GB" smtClean="0"/>
              <a:pPr/>
              <a:t>4</a:t>
            </a:fld>
            <a:endParaRPr lang="en-GB"/>
          </a:p>
        </p:txBody>
      </p:sp>
    </p:spTree>
    <p:extLst>
      <p:ext uri="{BB962C8B-B14F-4D97-AF65-F5344CB8AC3E}">
        <p14:creationId xmlns:p14="http://schemas.microsoft.com/office/powerpoint/2010/main" val="2905941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5</a:t>
            </a:fld>
            <a:endParaRPr lang="en-GB"/>
          </a:p>
        </p:txBody>
      </p:sp>
    </p:spTree>
    <p:extLst>
      <p:ext uri="{BB962C8B-B14F-4D97-AF65-F5344CB8AC3E}">
        <p14:creationId xmlns:p14="http://schemas.microsoft.com/office/powerpoint/2010/main" val="2667984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6</a:t>
            </a:fld>
            <a:endParaRPr lang="en-GB"/>
          </a:p>
        </p:txBody>
      </p:sp>
    </p:spTree>
    <p:extLst>
      <p:ext uri="{BB962C8B-B14F-4D97-AF65-F5344CB8AC3E}">
        <p14:creationId xmlns:p14="http://schemas.microsoft.com/office/powerpoint/2010/main" val="39394292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844000" y="2854800"/>
            <a:ext cx="6501600" cy="1153633"/>
          </a:xfrm>
          <a:prstGeom prst="rect">
            <a:avLst/>
          </a:prstGeom>
        </p:spPr>
      </p:pic>
    </p:spTree>
    <p:extLst>
      <p:ext uri="{BB962C8B-B14F-4D97-AF65-F5344CB8AC3E}">
        <p14:creationId xmlns:p14="http://schemas.microsoft.com/office/powerpoint/2010/main" val="275816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B53D-9933-445F-9B68-E730EB38A5A9}"/>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a:t>Click to edit master title</a:t>
            </a:r>
            <a:endParaRPr lang="en-GB"/>
          </a:p>
        </p:txBody>
      </p:sp>
      <p:sp>
        <p:nvSpPr>
          <p:cNvPr id="3" name="Subtitle 2">
            <a:extLst>
              <a:ext uri="{FF2B5EF4-FFF2-40B4-BE49-F238E27FC236}">
                <a16:creationId xmlns:a16="http://schemas.microsoft.com/office/drawing/2014/main" id="{E2C6B9F5-608F-4534-96F0-C3A5E1A638A6}"/>
              </a:ext>
            </a:extLst>
          </p:cNvPr>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pic>
        <p:nvPicPr>
          <p:cNvPr id="8" name="Picture 7" descr="A picture containing drawing&#10;&#10;Description automatically generated">
            <a:extLst>
              <a:ext uri="{FF2B5EF4-FFF2-40B4-BE49-F238E27FC236}">
                <a16:creationId xmlns:a16="http://schemas.microsoft.com/office/drawing/2014/main" id="{BCCF2CA0-CCE3-4304-8F31-4D1CC50BCBD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000" y="5511600"/>
            <a:ext cx="2242800" cy="397959"/>
          </a:xfrm>
          <a:prstGeom prst="rect">
            <a:avLst/>
          </a:prstGeom>
        </p:spPr>
      </p:pic>
    </p:spTree>
    <p:extLst>
      <p:ext uri="{BB962C8B-B14F-4D97-AF65-F5344CB8AC3E}">
        <p14:creationId xmlns:p14="http://schemas.microsoft.com/office/powerpoint/2010/main" val="171361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C6B9F5-608F-4534-96F0-C3A5E1A638A6}"/>
              </a:ext>
            </a:extLst>
          </p:cNvPr>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pPr/>
              <a:t>‹#›</a:t>
            </a:fld>
            <a:endParaRPr lang="en-GB"/>
          </a:p>
        </p:txBody>
      </p:sp>
      <p:sp>
        <p:nvSpPr>
          <p:cNvPr id="9" name="Title 1">
            <a:extLst>
              <a:ext uri="{FF2B5EF4-FFF2-40B4-BE49-F238E27FC236}">
                <a16:creationId xmlns:a16="http://schemas.microsoft.com/office/drawing/2014/main" id="{E9449821-0D0D-644D-97A3-D56097A9C6DA}"/>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a:t>Click to edit master title</a:t>
            </a:r>
            <a:endParaRPr lang="en-GB"/>
          </a:p>
        </p:txBody>
      </p:sp>
      <p:sp>
        <p:nvSpPr>
          <p:cNvPr id="10" name="Rectangle 9">
            <a:extLst>
              <a:ext uri="{FF2B5EF4-FFF2-40B4-BE49-F238E27FC236}">
                <a16:creationId xmlns:a16="http://schemas.microsoft.com/office/drawing/2014/main" id="{44F6EB17-8019-7B4E-B53C-76B057A7C31F}"/>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a:extLst>
              <a:ext uri="{FF2B5EF4-FFF2-40B4-BE49-F238E27FC236}">
                <a16:creationId xmlns:a16="http://schemas.microsoft.com/office/drawing/2014/main" id="{0503EF50-F00F-9643-BE53-F0A5272FC4B2}"/>
              </a:ext>
            </a:extLst>
          </p:cNvPr>
          <p:cNvPicPr>
            <a:picLocks noChangeAspect="1"/>
          </p:cNvPicPr>
          <p:nvPr userDrawn="1"/>
        </p:nvPicPr>
        <p:blipFill>
          <a:blip r:embed="rId2"/>
          <a:stretch>
            <a:fillRect/>
          </a:stretch>
        </p:blipFill>
        <p:spPr>
          <a:xfrm>
            <a:off x="953998" y="5517266"/>
            <a:ext cx="2244881" cy="396903"/>
          </a:xfrm>
          <a:prstGeom prst="rect">
            <a:avLst/>
          </a:prstGeom>
        </p:spPr>
      </p:pic>
    </p:spTree>
    <p:extLst>
      <p:ext uri="{BB962C8B-B14F-4D97-AF65-F5344CB8AC3E}">
        <p14:creationId xmlns:p14="http://schemas.microsoft.com/office/powerpoint/2010/main" val="4108207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1FBDFA-876B-4255-A301-F62F1EDD8D66}"/>
              </a:ext>
            </a:extLst>
          </p:cNvPr>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a:t>Add Text</a:t>
            </a:r>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62A19DAE-53D8-4F04-A4B9-B6EDFC23886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1288463762"/>
      </p:ext>
    </p:extLst>
  </p:cSld>
  <p:clrMapOvr>
    <a:masterClrMapping/>
  </p:clrMapOvr>
  <p:extLst>
    <p:ext uri="{DCECCB84-F9BA-43D5-87BE-67443E8EF086}">
      <p15:sldGuideLst xmlns:p15="http://schemas.microsoft.com/office/powerpoint/2012/main">
        <p15:guide id="2" pos="6805" userDrawn="1">
          <p15:clr>
            <a:srgbClr val="FBAE40"/>
          </p15:clr>
        </p15:guide>
        <p15:guide id="3" pos="3989" userDrawn="1">
          <p15:clr>
            <a:srgbClr val="FBAE40"/>
          </p15:clr>
        </p15:guide>
        <p15:guide id="4" pos="37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32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hasCustomPrompt="1"/>
          </p:nvPr>
        </p:nvSpPr>
        <p:spPr>
          <a:xfrm>
            <a:off x="954000" y="775255"/>
            <a:ext cx="7361569" cy="365125"/>
          </a:xfrm>
        </p:spPr>
        <p:txBody>
          <a:bodyPr/>
          <a:lstStyle/>
          <a:p>
            <a:r>
              <a:rPr lang="en-US"/>
              <a:t>Click to add title.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73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pPr/>
              <a:t>‹#›</a:t>
            </a:fld>
            <a:endParaRPr lang="en-GB"/>
          </a:p>
        </p:txBody>
      </p:sp>
      <p:sp>
        <p:nvSpPr>
          <p:cNvPr id="8" name="Content Placeholder 2">
            <a:extLst>
              <a:ext uri="{FF2B5EF4-FFF2-40B4-BE49-F238E27FC236}">
                <a16:creationId xmlns:a16="http://schemas.microsoft.com/office/drawing/2014/main" id="{B09D4C03-E8B1-644E-949B-F7AF91181833}"/>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a:t>Add Text</a:t>
            </a:r>
            <a:endParaRPr lang="en-GB"/>
          </a:p>
        </p:txBody>
      </p:sp>
      <p:sp>
        <p:nvSpPr>
          <p:cNvPr id="5" name="Title 1">
            <a:extLst>
              <a:ext uri="{FF2B5EF4-FFF2-40B4-BE49-F238E27FC236}">
                <a16:creationId xmlns:a16="http://schemas.microsoft.com/office/drawing/2014/main" id="{02EDA17D-AAE6-954F-93C6-90B8D7B80BD1}"/>
              </a:ext>
            </a:extLst>
          </p:cNvPr>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a:t>Click to add title.</a:t>
            </a:r>
            <a:endParaRPr lang="en-GB"/>
          </a:p>
        </p:txBody>
      </p:sp>
    </p:spTree>
    <p:extLst>
      <p:ext uri="{BB962C8B-B14F-4D97-AF65-F5344CB8AC3E}">
        <p14:creationId xmlns:p14="http://schemas.microsoft.com/office/powerpoint/2010/main" val="184062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10" name="Picture Placeholder 9">
            <a:extLst>
              <a:ext uri="{FF2B5EF4-FFF2-40B4-BE49-F238E27FC236}">
                <a16:creationId xmlns:a16="http://schemas.microsoft.com/office/drawing/2014/main" id="{874043F1-6F14-49BD-83CA-12B559ABC101}"/>
              </a:ext>
            </a:extLst>
          </p:cNvPr>
          <p:cNvSpPr>
            <a:spLocks noGrp="1"/>
          </p:cNvSpPr>
          <p:nvPr>
            <p:ph type="pic" sz="quarter" idx="13"/>
          </p:nvPr>
        </p:nvSpPr>
        <p:spPr>
          <a:xfrm>
            <a:off x="954088" y="2728913"/>
            <a:ext cx="6400800" cy="4129087"/>
          </a:xfrm>
        </p:spPr>
        <p:txBody>
          <a:bodyPr/>
          <a:lstStyle/>
          <a:p>
            <a:endParaRPr lang="en-GB"/>
          </a:p>
        </p:txBody>
      </p:sp>
      <p:sp>
        <p:nvSpPr>
          <p:cNvPr id="11" name="Rectangle 10">
            <a:extLst>
              <a:ext uri="{FF2B5EF4-FFF2-40B4-BE49-F238E27FC236}">
                <a16:creationId xmlns:a16="http://schemas.microsoft.com/office/drawing/2014/main" id="{4B51C537-0174-43E5-8B81-C80AF1D06831}"/>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11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039FCF96-B7D6-4CCD-A4AE-46A67249D3B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a:extLst>
              <a:ext uri="{FF2B5EF4-FFF2-40B4-BE49-F238E27FC236}">
                <a16:creationId xmlns:a16="http://schemas.microsoft.com/office/drawing/2014/main" id="{741F3B7A-B2BF-40FC-8EB2-F1C37D316488}"/>
              </a:ext>
            </a:extLst>
          </p:cNvPr>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9" name="Content Placeholder 9">
            <a:extLst>
              <a:ext uri="{FF2B5EF4-FFF2-40B4-BE49-F238E27FC236}">
                <a16:creationId xmlns:a16="http://schemas.microsoft.com/office/drawing/2014/main" id="{75B7A667-B99F-7A41-AAC3-ED24B9B1D92E}"/>
              </a:ext>
            </a:extLst>
          </p:cNvPr>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11" name="Content Placeholder 9">
            <a:extLst>
              <a:ext uri="{FF2B5EF4-FFF2-40B4-BE49-F238E27FC236}">
                <a16:creationId xmlns:a16="http://schemas.microsoft.com/office/drawing/2014/main" id="{93C1FF47-695D-B348-AF37-1ADF5736FA9E}"/>
              </a:ext>
            </a:extLst>
          </p:cNvPr>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Tree>
    <p:extLst>
      <p:ext uri="{BB962C8B-B14F-4D97-AF65-F5344CB8AC3E}">
        <p14:creationId xmlns:p14="http://schemas.microsoft.com/office/powerpoint/2010/main" val="89604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307C322-846C-9045-AD91-A93C82FC5AAF}"/>
              </a:ext>
            </a:extLst>
          </p:cNvPr>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a:t>Picture</a:t>
            </a:r>
          </a:p>
        </p:txBody>
      </p:sp>
    </p:spTree>
    <p:extLst>
      <p:ext uri="{BB962C8B-B14F-4D97-AF65-F5344CB8AC3E}">
        <p14:creationId xmlns:p14="http://schemas.microsoft.com/office/powerpoint/2010/main" val="292035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a:extLst>
              <a:ext uri="{FF2B5EF4-FFF2-40B4-BE49-F238E27FC236}">
                <a16:creationId xmlns:a16="http://schemas.microsoft.com/office/drawing/2014/main" id="{9ABCF9A5-761F-434B-BBB5-D788CB1E79D8}"/>
              </a:ext>
            </a:extLst>
          </p:cNvPr>
          <p:cNvSpPr>
            <a:spLocks noGrp="1"/>
          </p:cNvSpPr>
          <p:nvPr>
            <p:ph type="media" sz="quarter" idx="10"/>
          </p:nvPr>
        </p:nvSpPr>
        <p:spPr>
          <a:xfrm>
            <a:off x="140400" y="140400"/>
            <a:ext cx="11916000" cy="6580800"/>
          </a:xfrm>
          <a:solidFill>
            <a:schemeClr val="bg1"/>
          </a:solidFill>
        </p:spPr>
        <p:txBody>
          <a:bodyPr/>
          <a:lstStyle/>
          <a:p>
            <a:endParaRPr lang="en-GB"/>
          </a:p>
        </p:txBody>
      </p:sp>
    </p:spTree>
    <p:extLst>
      <p:ext uri="{BB962C8B-B14F-4D97-AF65-F5344CB8AC3E}">
        <p14:creationId xmlns:p14="http://schemas.microsoft.com/office/powerpoint/2010/main" val="32028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699880E3-4DE3-A642-9738-DF49DDCC9AC5}"/>
              </a:ext>
            </a:extLst>
          </p:cNvPr>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7" name="Content Placeholder 2">
            <a:extLst>
              <a:ext uri="{FF2B5EF4-FFF2-40B4-BE49-F238E27FC236}">
                <a16:creationId xmlns:a16="http://schemas.microsoft.com/office/drawing/2014/main" id="{CF37D495-D835-8E4B-A177-5E12F893DDCA}"/>
              </a:ext>
            </a:extLst>
          </p:cNvPr>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endParaRPr lang="en-GB"/>
          </a:p>
        </p:txBody>
      </p:sp>
      <p:sp>
        <p:nvSpPr>
          <p:cNvPr id="18" name="Content Placeholder 2">
            <a:extLst>
              <a:ext uri="{FF2B5EF4-FFF2-40B4-BE49-F238E27FC236}">
                <a16:creationId xmlns:a16="http://schemas.microsoft.com/office/drawing/2014/main" id="{A6804C7E-983C-9246-90C0-AF8A0CE2CA84}"/>
              </a:ext>
            </a:extLst>
          </p:cNvPr>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p>
        </p:txBody>
      </p:sp>
      <p:sp>
        <p:nvSpPr>
          <p:cNvPr id="8" name="Picture Placeholder 7">
            <a:extLst>
              <a:ext uri="{FF2B5EF4-FFF2-40B4-BE49-F238E27FC236}">
                <a16:creationId xmlns:a16="http://schemas.microsoft.com/office/drawing/2014/main" id="{84410427-8F1D-7541-9C05-AFDD3531678D}"/>
              </a:ext>
            </a:extLst>
          </p:cNvPr>
          <p:cNvSpPr>
            <a:spLocks noGrp="1"/>
          </p:cNvSpPr>
          <p:nvPr>
            <p:ph type="pic" sz="quarter" idx="23"/>
          </p:nvPr>
        </p:nvSpPr>
        <p:spPr>
          <a:xfrm>
            <a:off x="1462175" y="1640942"/>
            <a:ext cx="2160587" cy="2160588"/>
          </a:xfrm>
        </p:spPr>
        <p:txBody>
          <a:bodyPr/>
          <a:lstStyle/>
          <a:p>
            <a:endParaRPr lang="en-US"/>
          </a:p>
        </p:txBody>
      </p:sp>
      <p:sp>
        <p:nvSpPr>
          <p:cNvPr id="20" name="Picture Placeholder 7">
            <a:extLst>
              <a:ext uri="{FF2B5EF4-FFF2-40B4-BE49-F238E27FC236}">
                <a16:creationId xmlns:a16="http://schemas.microsoft.com/office/drawing/2014/main" id="{8B7D5964-7A97-5742-8717-CCB747F84A08}"/>
              </a:ext>
            </a:extLst>
          </p:cNvPr>
          <p:cNvSpPr>
            <a:spLocks noGrp="1"/>
          </p:cNvSpPr>
          <p:nvPr>
            <p:ph type="pic" sz="quarter" idx="24"/>
          </p:nvPr>
        </p:nvSpPr>
        <p:spPr>
          <a:xfrm>
            <a:off x="5015705" y="1640942"/>
            <a:ext cx="2160587" cy="2160588"/>
          </a:xfrm>
        </p:spPr>
        <p:txBody>
          <a:bodyPr/>
          <a:lstStyle/>
          <a:p>
            <a:endParaRPr lang="en-US"/>
          </a:p>
        </p:txBody>
      </p:sp>
      <p:sp>
        <p:nvSpPr>
          <p:cNvPr id="21" name="Picture Placeholder 7">
            <a:extLst>
              <a:ext uri="{FF2B5EF4-FFF2-40B4-BE49-F238E27FC236}">
                <a16:creationId xmlns:a16="http://schemas.microsoft.com/office/drawing/2014/main" id="{344933FE-A401-A841-9AC3-B75285AA32D2}"/>
              </a:ext>
            </a:extLst>
          </p:cNvPr>
          <p:cNvSpPr>
            <a:spLocks noGrp="1"/>
          </p:cNvSpPr>
          <p:nvPr>
            <p:ph type="pic" sz="quarter" idx="25"/>
          </p:nvPr>
        </p:nvSpPr>
        <p:spPr>
          <a:xfrm>
            <a:off x="8569236" y="1640942"/>
            <a:ext cx="2160587" cy="2160588"/>
          </a:xfrm>
        </p:spPr>
        <p:txBody>
          <a:bodyPr/>
          <a:lstStyle/>
          <a:p>
            <a:endParaRPr lang="en-US"/>
          </a:p>
        </p:txBody>
      </p:sp>
    </p:spTree>
    <p:extLst>
      <p:ext uri="{BB962C8B-B14F-4D97-AF65-F5344CB8AC3E}">
        <p14:creationId xmlns:p14="http://schemas.microsoft.com/office/powerpoint/2010/main" val="361163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CE188-32E7-4242-9E44-E8055FC030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4002" y="5511600"/>
            <a:ext cx="2242795" cy="397958"/>
          </a:xfrm>
          <a:prstGeom prst="rect">
            <a:avLst/>
          </a:prstGeom>
        </p:spPr>
      </p:pic>
      <p:sp>
        <p:nvSpPr>
          <p:cNvPr id="2" name="Title 1">
            <a:extLst>
              <a:ext uri="{FF2B5EF4-FFF2-40B4-BE49-F238E27FC236}">
                <a16:creationId xmlns:a16="http://schemas.microsoft.com/office/drawing/2014/main" id="{7381B53D-9933-445F-9B68-E730EB38A5A9}"/>
              </a:ext>
            </a:extLst>
          </p:cNvPr>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a:t>Click to edit Master title style</a:t>
            </a:r>
            <a:endParaRPr lang="en-GB"/>
          </a:p>
        </p:txBody>
      </p:sp>
      <p:sp>
        <p:nvSpPr>
          <p:cNvPr id="5" name="Footer Placeholder 4">
            <a:extLst>
              <a:ext uri="{FF2B5EF4-FFF2-40B4-BE49-F238E27FC236}">
                <a16:creationId xmlns:a16="http://schemas.microsoft.com/office/drawing/2014/main" id="{CA2BE80A-BFEC-E24A-B510-73A571F1F04F}"/>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8E5B25B4-144A-5B4A-8EAD-2022412DF2F1}"/>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862170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62CF-E2B4-496D-829D-DCE37260977D}"/>
              </a:ext>
            </a:extLst>
          </p:cNvPr>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84EF4-0E07-4BF3-A4AB-3E8632AA79AD}"/>
              </a:ext>
            </a:extLst>
          </p:cNvPr>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GB"/>
              <a:t>Fourth level</a:t>
            </a:r>
          </a:p>
          <a:p>
            <a:pPr lvl="4"/>
            <a:r>
              <a:rPr lang="en-GB" b="1"/>
              <a:t>Fifth level</a:t>
            </a:r>
            <a:endParaRPr lang="en-GB"/>
          </a:p>
        </p:txBody>
      </p:sp>
      <p:sp>
        <p:nvSpPr>
          <p:cNvPr id="5" name="Footer Placeholder 4">
            <a:extLst>
              <a:ext uri="{FF2B5EF4-FFF2-40B4-BE49-F238E27FC236}">
                <a16:creationId xmlns:a16="http://schemas.microsoft.com/office/drawing/2014/main" id="{3B527A5D-B761-4C2F-97E6-5D8254424B8B}"/>
              </a:ext>
            </a:extLst>
          </p:cNvPr>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9CD661B1-4E4B-4F85-ACA3-C34023D70282}"/>
              </a:ext>
            </a:extLst>
          </p:cNvPr>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1619008365"/>
      </p:ext>
    </p:extLst>
  </p:cSld>
  <p:clrMap bg1="lt1" tx1="dk1" bg2="lt2" tx2="dk2" accent1="accent1" accent2="accent2" accent3="accent3" accent4="accent4" accent5="accent5" accent6="accent6" hlink="hlink" folHlink="folHlink"/>
  <p:sldLayoutIdLst>
    <p:sldLayoutId id="2147483675" r:id="rId1"/>
    <p:sldLayoutId id="2147483663" r:id="rId2"/>
    <p:sldLayoutId id="2147483677" r:id="rId3"/>
    <p:sldLayoutId id="2147483652" r:id="rId4"/>
    <p:sldLayoutId id="2147483682" r:id="rId5"/>
    <p:sldLayoutId id="2147483721" r:id="rId6"/>
    <p:sldLayoutId id="2147483722" r:id="rId7"/>
    <p:sldLayoutId id="2147483684" r:id="rId8"/>
    <p:sldLayoutId id="2147483685" r:id="rId9"/>
    <p:sldLayoutId id="2147483686" r:id="rId10"/>
    <p:sldLayoutId id="2147483723" r:id="rId11"/>
    <p:sldLayoutId id="2147483706" r:id="rId12"/>
    <p:sldLayoutId id="2147483697" r:id="rId13"/>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4" pos="604" userDrawn="1">
          <p15:clr>
            <a:srgbClr val="F26B43"/>
          </p15:clr>
        </p15:guide>
        <p15:guide id="5" pos="7076" userDrawn="1">
          <p15:clr>
            <a:srgbClr val="F26B43"/>
          </p15:clr>
        </p15:guide>
        <p15:guide id="6" orient="horz" pos="2160" userDrawn="1">
          <p15:clr>
            <a:srgbClr val="F26B43"/>
          </p15:clr>
        </p15:guide>
        <p15:guide id="7" orient="horz" userDrawn="1">
          <p15:clr>
            <a:srgbClr val="F26B43"/>
          </p15:clr>
        </p15:guide>
        <p15:guide id="8" orient="horz" pos="604" userDrawn="1">
          <p15:clr>
            <a:srgbClr val="F26B43"/>
          </p15:clr>
        </p15:guide>
        <p15:guide id="10" orient="horz" pos="3712" userDrawn="1">
          <p15:clr>
            <a:srgbClr val="F26B43"/>
          </p15:clr>
        </p15:guide>
        <p15:guide id="11" orient="horz" pos="11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A29D8FC-E32A-5566-0930-02B99F5763A6}"/>
              </a:ext>
            </a:extLst>
          </p:cNvPr>
          <p:cNvSpPr>
            <a:spLocks noGrp="1"/>
          </p:cNvSpPr>
          <p:nvPr>
            <p:ph type="subTitle" idx="1"/>
          </p:nvPr>
        </p:nvSpPr>
        <p:spPr>
          <a:xfrm>
            <a:off x="952800" y="699736"/>
            <a:ext cx="10273911" cy="533111"/>
          </a:xfrm>
        </p:spPr>
        <p:txBody>
          <a:bodyPr/>
          <a:lstStyle/>
          <a:p>
            <a:r>
              <a:rPr lang="en-GB"/>
              <a:t>Instructions for the Research Question Demos</a:t>
            </a:r>
          </a:p>
        </p:txBody>
      </p:sp>
      <p:sp>
        <p:nvSpPr>
          <p:cNvPr id="4" name="Slide Number Placeholder 3">
            <a:extLst>
              <a:ext uri="{FF2B5EF4-FFF2-40B4-BE49-F238E27FC236}">
                <a16:creationId xmlns:a16="http://schemas.microsoft.com/office/drawing/2014/main" id="{E143B824-C7FA-8427-0A8B-E8B5D7787B83}"/>
              </a:ext>
            </a:extLst>
          </p:cNvPr>
          <p:cNvSpPr>
            <a:spLocks noGrp="1"/>
          </p:cNvSpPr>
          <p:nvPr>
            <p:ph type="sldNum" sz="quarter" idx="12"/>
          </p:nvPr>
        </p:nvSpPr>
        <p:spPr/>
        <p:txBody>
          <a:bodyPr/>
          <a:lstStyle/>
          <a:p>
            <a:fld id="{E4D355CA-84B7-41B1-B164-8BB439CC7C6B}" type="slidenum">
              <a:rPr lang="en-GB" smtClean="0"/>
              <a:pPr/>
              <a:t>1</a:t>
            </a:fld>
            <a:endParaRPr lang="en-GB"/>
          </a:p>
        </p:txBody>
      </p:sp>
      <p:sp>
        <p:nvSpPr>
          <p:cNvPr id="6" name="TextBox 5">
            <a:extLst>
              <a:ext uri="{FF2B5EF4-FFF2-40B4-BE49-F238E27FC236}">
                <a16:creationId xmlns:a16="http://schemas.microsoft.com/office/drawing/2014/main" id="{6DD9461E-8553-F8C3-E23F-FB71330E931F}"/>
              </a:ext>
            </a:extLst>
          </p:cNvPr>
          <p:cNvSpPr txBox="1"/>
          <p:nvPr/>
        </p:nvSpPr>
        <p:spPr>
          <a:xfrm>
            <a:off x="388578" y="1310979"/>
            <a:ext cx="11486747" cy="5355312"/>
          </a:xfrm>
          <a:prstGeom prst="rect">
            <a:avLst/>
          </a:prstGeom>
          <a:solidFill>
            <a:schemeClr val="bg1"/>
          </a:solidFill>
        </p:spPr>
        <p:txBody>
          <a:bodyPr wrap="square" lIns="91440" tIns="45720" rIns="91440" bIns="45720" rtlCol="0" anchor="t">
            <a:spAutoFit/>
          </a:bodyPr>
          <a:lstStyle/>
          <a:p>
            <a:r>
              <a:rPr lang="en-GB" dirty="0"/>
              <a:t>You have 5 minutes to present – be ready to share your screen, present slides in "full screen / presentation mode". Practice first. We can only offer you one opportunity to present your Research Question, so please </a:t>
            </a:r>
            <a:r>
              <a:rPr lang="en-GB"/>
              <a:t>make the most of this opportunity to help you pass coursework 2. </a:t>
            </a:r>
            <a:endParaRPr lang="en-GB" dirty="0"/>
          </a:p>
          <a:p>
            <a:endParaRPr lang="en-GB"/>
          </a:p>
          <a:p>
            <a:r>
              <a:rPr lang="en-GB" dirty="0">
                <a:solidFill>
                  <a:srgbClr val="FF0000"/>
                </a:solidFill>
              </a:rPr>
              <a:t>Research Questions are dependent on the variables and datatypes you have in your assigned dataset. Before you define your Research Question, your dataset dsXXXX must match your assigned Dataset, I.e., did you </a:t>
            </a:r>
            <a:r>
              <a:rPr lang="en-GB">
                <a:solidFill>
                  <a:srgbClr val="FF0000"/>
                </a:solidFill>
              </a:rPr>
              <a:t>receive confirmation email about your allocation?</a:t>
            </a:r>
            <a:r>
              <a:rPr lang="en-GB" dirty="0">
                <a:solidFill>
                  <a:srgbClr val="FF0000"/>
                </a:solidFill>
              </a:rPr>
              <a:t> Your group number must be assigned to the dataset you are referencing here.</a:t>
            </a:r>
            <a:endParaRPr lang="en-GB" dirty="0">
              <a:solidFill>
                <a:srgbClr val="FF0000"/>
              </a:solidFill>
              <a:cs typeface="Arial"/>
            </a:endParaRPr>
          </a:p>
          <a:p>
            <a:endParaRPr lang="en-GB">
              <a:solidFill>
                <a:srgbClr val="203232"/>
              </a:solidFill>
              <a:cs typeface="Arial" panose="020B0604020202020204"/>
            </a:endParaRPr>
          </a:p>
          <a:p>
            <a:r>
              <a:rPr lang="en-GB"/>
              <a:t>The next slides give you three alternatives for defining your research question and hypotheses. Select </a:t>
            </a:r>
            <a:r>
              <a:rPr lang="en-GB" dirty="0"/>
              <a:t>only </a:t>
            </a:r>
            <a:r>
              <a:rPr lang="en-GB" b="1" dirty="0"/>
              <a:t>one type </a:t>
            </a:r>
            <a:r>
              <a:rPr lang="en-GB" dirty="0"/>
              <a:t>of research question. </a:t>
            </a:r>
          </a:p>
          <a:p>
            <a:r>
              <a:rPr lang="en-GB" dirty="0"/>
              <a:t>Before presenting DELETE all text that is either an instruction or an optionyou do not use (including this slide).   You can then enlarge your selection. Instructions for group sign up of presentation slots will be announced on Canvas and Slack. DO NOT SIGN UP unless you can attend. Ideally, all group members should attend; select one person to present, while others take notes. All group be ready to answer questions.  Any group not </a:t>
            </a:r>
            <a:r>
              <a:rPr lang="en-GB"/>
              <a:t>presenting will miss the opportunity to check a critical part of coursework 2.   Practice presenting on Teams </a:t>
            </a:r>
            <a:r>
              <a:rPr lang="en-GB" dirty="0"/>
              <a:t>first.</a:t>
            </a:r>
            <a:endParaRPr lang="en-GB">
              <a:cs typeface="Arial"/>
            </a:endParaRPr>
          </a:p>
          <a:p>
            <a:r>
              <a:rPr lang="en-GB" b="1" i="1"/>
              <a:t>We look forward to giving you feedback.  You will not be graded on this presentation but if you do not attend and you booked a space you are preventing someone else presenting and are going against our module values</a:t>
            </a:r>
            <a:r>
              <a:rPr lang="en-GB"/>
              <a:t>.  This will be reflected in your peer evaluation.</a:t>
            </a:r>
          </a:p>
        </p:txBody>
      </p:sp>
    </p:spTree>
    <p:extLst>
      <p:ext uri="{BB962C8B-B14F-4D97-AF65-F5344CB8AC3E}">
        <p14:creationId xmlns:p14="http://schemas.microsoft.com/office/powerpoint/2010/main" val="384748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p:txBody>
          <a:bodyPr>
            <a:normAutofit fontScale="90000"/>
          </a:bodyPr>
          <a:lstStyle/>
          <a:p>
            <a:r>
              <a:rPr lang="en-US"/>
              <a:t>Research Question – </a:t>
            </a:r>
            <a:br>
              <a:rPr lang="en-US"/>
            </a:br>
            <a:r>
              <a:rPr lang="en-US" sz="4000"/>
              <a:t>Tutorial Presentation for Feedback</a:t>
            </a:r>
            <a:br>
              <a:rPr lang="en-US" sz="4000"/>
            </a:br>
            <a:r>
              <a:rPr lang="en-US" sz="2200"/>
              <a:t>Date: </a:t>
            </a:r>
            <a:br>
              <a:rPr lang="en-US" sz="8000"/>
            </a:br>
            <a:endParaRPr lang="en-US"/>
          </a:p>
        </p:txBody>
      </p:sp>
      <p:sp>
        <p:nvSpPr>
          <p:cNvPr id="3" name="Subtitle 2">
            <a:extLst>
              <a:ext uri="{FF2B5EF4-FFF2-40B4-BE49-F238E27FC236}">
                <a16:creationId xmlns:a16="http://schemas.microsoft.com/office/drawing/2014/main" id="{8275DA97-5166-7F4B-BC83-F50AC8BEDCD7}"/>
              </a:ext>
            </a:extLst>
          </p:cNvPr>
          <p:cNvSpPr>
            <a:spLocks noGrp="1"/>
          </p:cNvSpPr>
          <p:nvPr>
            <p:ph type="subTitle" idx="1"/>
          </p:nvPr>
        </p:nvSpPr>
        <p:spPr/>
        <p:txBody>
          <a:bodyPr/>
          <a:lstStyle/>
          <a:p>
            <a:r>
              <a:rPr lang="en-US" sz="2000"/>
              <a:t>Group Name:                                                            Name of Student Presenting:</a:t>
            </a:r>
          </a:p>
        </p:txBody>
      </p:sp>
      <p:sp>
        <p:nvSpPr>
          <p:cNvPr id="4" name="Footer Placeholder 3">
            <a:extLst>
              <a:ext uri="{FF2B5EF4-FFF2-40B4-BE49-F238E27FC236}">
                <a16:creationId xmlns:a16="http://schemas.microsoft.com/office/drawing/2014/main" id="{6E7F4D14-5620-EC41-A86C-6CC3CFD691B4}"/>
              </a:ext>
            </a:extLst>
          </p:cNvPr>
          <p:cNvSpPr>
            <a:spLocks noGrp="1"/>
          </p:cNvSpPr>
          <p:nvPr>
            <p:ph type="ftr" sz="quarter" idx="11"/>
          </p:nvPr>
        </p:nvSpPr>
        <p:spPr>
          <a:xfrm>
            <a:off x="965289" y="274320"/>
            <a:ext cx="10455567" cy="736245"/>
          </a:xfrm>
        </p:spPr>
        <p:txBody>
          <a:bodyPr/>
          <a:lstStyle/>
          <a:p>
            <a:r>
              <a:rPr lang="en-GB"/>
              <a:t>7COM1079-2025  Student Group No:                    Names of Student Attendees  (all group should attend to get feedback): </a:t>
            </a:r>
          </a:p>
        </p:txBody>
      </p:sp>
    </p:spTree>
    <p:extLst>
      <p:ext uri="{BB962C8B-B14F-4D97-AF65-F5344CB8AC3E}">
        <p14:creationId xmlns:p14="http://schemas.microsoft.com/office/powerpoint/2010/main" val="4148532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230832"/>
          </a:xfrm>
        </p:spPr>
        <p:txBody>
          <a:bodyPr vert="horz" lIns="0" tIns="0" rIns="0" bIns="0" rtlCol="0" anchor="t">
            <a:noAutofit/>
          </a:bodyPr>
          <a:lstStyle/>
          <a:p>
            <a:pPr>
              <a:spcAft>
                <a:spcPts val="0"/>
              </a:spcAft>
            </a:pPr>
            <a:r>
              <a:rPr lang="en-GB" dirty="0">
                <a:solidFill>
                  <a:srgbClr val="203232"/>
                </a:solidFill>
                <a:cs typeface="Arial"/>
              </a:rPr>
              <a:t>Here is a sample of our dataset: </a:t>
            </a:r>
            <a:endParaRPr lang="en-GB" sz="1800" dirty="0">
              <a:solidFill>
                <a:srgbClr val="FF0000"/>
              </a:solidFill>
              <a:cs typeface="Aria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a:t>PRE 7COM1079-2025  Student Group No:  ?????</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8" name="Title 7">
            <a:extLst>
              <a:ext uri="{FF2B5EF4-FFF2-40B4-BE49-F238E27FC236}">
                <a16:creationId xmlns:a16="http://schemas.microsoft.com/office/drawing/2014/main" id="{6E140EA5-BB03-811F-4631-603A97631914}"/>
              </a:ext>
            </a:extLst>
          </p:cNvPr>
          <p:cNvSpPr>
            <a:spLocks noGrp="1"/>
          </p:cNvSpPr>
          <p:nvPr>
            <p:ph type="ctrTitle"/>
          </p:nvPr>
        </p:nvSpPr>
        <p:spPr>
          <a:xfrm>
            <a:off x="902197" y="3429000"/>
            <a:ext cx="10913623" cy="2649857"/>
          </a:xfrm>
        </p:spPr>
        <p:txBody>
          <a:bodyPr>
            <a:normAutofit/>
          </a:bodyPr>
          <a:lstStyle/>
          <a:p>
            <a:pPr>
              <a:lnSpc>
                <a:spcPts val="2880"/>
              </a:lnSpc>
              <a:spcBef>
                <a:spcPts val="0"/>
              </a:spcBef>
              <a:spcAft>
                <a:spcPts val="992"/>
              </a:spcAft>
            </a:pPr>
            <a:br>
              <a:rPr lang="en-US" sz="2400" b="0" spc="-100" dirty="0">
                <a:solidFill>
                  <a:srgbClr val="203232"/>
                </a:solidFill>
                <a:latin typeface="+mn-lt"/>
                <a:ea typeface="+mn-ea"/>
                <a:cs typeface="Arial"/>
              </a:rPr>
            </a:br>
            <a:r>
              <a:rPr lang="en-US" sz="2400" b="0" spc="-100" dirty="0">
                <a:solidFill>
                  <a:srgbClr val="203232"/>
                </a:solidFill>
                <a:latin typeface="+mn-lt"/>
                <a:ea typeface="+mn-ea"/>
                <a:cs typeface="Arial"/>
              </a:rPr>
              <a:t>Two Columns Names are -  Confirmatory and Presumptive Lab Total Tested (Daily)  And Confirmatory and Presumptive Lab Percent Positive (Daily)</a:t>
            </a:r>
            <a:br>
              <a:rPr lang="en-US" sz="2400" b="0" spc="-100" dirty="0">
                <a:solidFill>
                  <a:srgbClr val="203232"/>
                </a:solidFill>
                <a:latin typeface="+mn-lt"/>
                <a:ea typeface="+mn-ea"/>
                <a:cs typeface="Arial"/>
              </a:rPr>
            </a:br>
            <a:br>
              <a:rPr lang="en-US" sz="2400" b="0" spc="-100" dirty="0">
                <a:solidFill>
                  <a:srgbClr val="203232"/>
                </a:solidFill>
                <a:latin typeface="+mn-lt"/>
                <a:ea typeface="+mn-ea"/>
                <a:cs typeface="Arial"/>
              </a:rPr>
            </a:br>
            <a:r>
              <a:rPr lang="en-US" sz="2400" b="0" spc="-100" dirty="0">
                <a:solidFill>
                  <a:srgbClr val="203232"/>
                </a:solidFill>
                <a:latin typeface="+mn-lt"/>
                <a:ea typeface="+mn-ea"/>
                <a:cs typeface="Arial"/>
              </a:rPr>
              <a:t>Our Dataset Has 756 Rows</a:t>
            </a:r>
            <a:br>
              <a:rPr lang="en-GB" sz="2400" b="0" spc="-100" dirty="0">
                <a:solidFill>
                  <a:srgbClr val="203232"/>
                </a:solidFill>
                <a:latin typeface="+mn-lt"/>
                <a:ea typeface="+mn-ea"/>
                <a:cs typeface="Arial"/>
              </a:rPr>
            </a:br>
            <a:endParaRPr lang="en-GB" sz="2400" b="0" spc="-100" dirty="0">
              <a:solidFill>
                <a:srgbClr val="203232"/>
              </a:solidFill>
              <a:latin typeface="+mn-lt"/>
              <a:ea typeface="+mn-ea"/>
              <a:cs typeface="Arial"/>
            </a:endParaRPr>
          </a:p>
          <a:p>
            <a:endParaRPr lang="en-US" dirty="0">
              <a:solidFill>
                <a:srgbClr val="FF0000"/>
              </a:solidFill>
              <a:cs typeface="Arial"/>
            </a:endParaRPr>
          </a:p>
        </p:txBody>
      </p:sp>
      <p:pic>
        <p:nvPicPr>
          <p:cNvPr id="9" name="Picture 8" descr="A table with numbers and letters&#10;&#10;AI-generated content may be incorrect.">
            <a:extLst>
              <a:ext uri="{FF2B5EF4-FFF2-40B4-BE49-F238E27FC236}">
                <a16:creationId xmlns:a16="http://schemas.microsoft.com/office/drawing/2014/main" id="{07120EDE-C2CF-0B68-A6CC-ABD79B4957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2197" y="1444987"/>
            <a:ext cx="10387605" cy="2155854"/>
          </a:xfrm>
          <a:prstGeom prst="rect">
            <a:avLst/>
          </a:prstGeom>
        </p:spPr>
      </p:pic>
    </p:spTree>
    <p:extLst>
      <p:ext uri="{BB962C8B-B14F-4D97-AF65-F5344CB8AC3E}">
        <p14:creationId xmlns:p14="http://schemas.microsoft.com/office/powerpoint/2010/main" val="713092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9D8228-727F-1E46-B5AD-91D158B8255E}"/>
              </a:ext>
            </a:extLst>
          </p:cNvPr>
          <p:cNvSpPr>
            <a:spLocks noGrp="1"/>
          </p:cNvSpPr>
          <p:nvPr>
            <p:ph type="subTitle" idx="1"/>
          </p:nvPr>
        </p:nvSpPr>
        <p:spPr>
          <a:xfrm>
            <a:off x="965288" y="1285092"/>
            <a:ext cx="10110240" cy="588024"/>
          </a:xfrm>
        </p:spPr>
        <p:txBody>
          <a:bodyPr vert="horz" lIns="0" tIns="0" rIns="0" bIns="0" rtlCol="0" anchor="t">
            <a:noAutofit/>
          </a:bodyPr>
          <a:lstStyle/>
          <a:p>
            <a:r>
              <a:rPr lang="en-US" dirty="0"/>
              <a:t>Dataset </a:t>
            </a:r>
            <a:r>
              <a:rPr lang="en-US" dirty="0">
                <a:solidFill>
                  <a:srgbClr val="203232"/>
                </a:solidFill>
              </a:rPr>
              <a:t>ID</a:t>
            </a:r>
            <a:r>
              <a:rPr lang="en-US" sz="1600" dirty="0">
                <a:solidFill>
                  <a:srgbClr val="FF0000"/>
                </a:solidFill>
              </a:rPr>
              <a:t>:   </a:t>
            </a:r>
            <a:r>
              <a:rPr lang="en-US" sz="2400" dirty="0">
                <a:solidFill>
                  <a:srgbClr val="FF0000"/>
                </a:solidFill>
              </a:rPr>
              <a:t>(DS101)</a:t>
            </a:r>
          </a:p>
        </p:txBody>
      </p:sp>
      <p:sp>
        <p:nvSpPr>
          <p:cNvPr id="3" name="Footer Placeholder 2">
            <a:extLst>
              <a:ext uri="{FF2B5EF4-FFF2-40B4-BE49-F238E27FC236}">
                <a16:creationId xmlns:a16="http://schemas.microsoft.com/office/drawing/2014/main" id="{00EBC183-8AA5-EC44-9987-D65F5C1892A1}"/>
              </a:ext>
            </a:extLst>
          </p:cNvPr>
          <p:cNvSpPr>
            <a:spLocks noGrp="1"/>
          </p:cNvSpPr>
          <p:nvPr>
            <p:ph type="ftr" sz="quarter" idx="11"/>
          </p:nvPr>
        </p:nvSpPr>
        <p:spPr>
          <a:xfrm>
            <a:off x="965288" y="791022"/>
            <a:ext cx="9129687" cy="230832"/>
          </a:xfrm>
        </p:spPr>
        <p:txBody>
          <a:bodyPr/>
          <a:lstStyle/>
          <a:p>
            <a:r>
              <a:rPr lang="en-GB"/>
              <a:t>7COM1079-2025  Student Group No:                    Names of Student Group Attendees: </a:t>
            </a:r>
          </a:p>
        </p:txBody>
      </p:sp>
      <p:sp>
        <p:nvSpPr>
          <p:cNvPr id="4" name="Slide Number Placeholder 3">
            <a:extLst>
              <a:ext uri="{FF2B5EF4-FFF2-40B4-BE49-F238E27FC236}">
                <a16:creationId xmlns:a16="http://schemas.microsoft.com/office/drawing/2014/main" id="{CC9D9611-42EE-7840-81EE-DD6B1A99CD7B}"/>
              </a:ext>
            </a:extLst>
          </p:cNvPr>
          <p:cNvSpPr>
            <a:spLocks noGrp="1"/>
          </p:cNvSpPr>
          <p:nvPr>
            <p:ph type="sldNum" sz="quarter" idx="12"/>
          </p:nvPr>
        </p:nvSpPr>
        <p:spPr>
          <a:xfrm>
            <a:off x="10954512" y="555565"/>
            <a:ext cx="622800" cy="230832"/>
          </a:xfrm>
        </p:spPr>
        <p:txBody>
          <a:bodyPr/>
          <a:lstStyle/>
          <a:p>
            <a:r>
              <a:rPr lang="en-US"/>
              <a:t>2</a:t>
            </a:r>
            <a:endParaRPr lang="en-GB"/>
          </a:p>
        </p:txBody>
      </p:sp>
      <p:sp>
        <p:nvSpPr>
          <p:cNvPr id="5" name="Title 4">
            <a:extLst>
              <a:ext uri="{FF2B5EF4-FFF2-40B4-BE49-F238E27FC236}">
                <a16:creationId xmlns:a16="http://schemas.microsoft.com/office/drawing/2014/main" id="{B3FA3829-F12C-214D-8FBA-7E1A740F65CA}"/>
              </a:ext>
            </a:extLst>
          </p:cNvPr>
          <p:cNvSpPr>
            <a:spLocks noGrp="1"/>
          </p:cNvSpPr>
          <p:nvPr>
            <p:ph type="ctrTitle"/>
          </p:nvPr>
        </p:nvSpPr>
        <p:spPr>
          <a:xfrm>
            <a:off x="965288" y="1698305"/>
            <a:ext cx="10974945" cy="2699181"/>
          </a:xfrm>
        </p:spPr>
        <p:txBody>
          <a:bodyPr>
            <a:noAutofit/>
          </a:bodyPr>
          <a:lstStyle/>
          <a:p>
            <a:pPr>
              <a:lnSpc>
                <a:spcPct val="100000"/>
              </a:lnSpc>
            </a:pPr>
            <a:r>
              <a:rPr lang="en-US" sz="2400" b="0" dirty="0">
                <a:latin typeface="Calibri"/>
                <a:cs typeface="Calibri"/>
              </a:rPr>
              <a:t>This dataset is interesting to us because </a:t>
            </a:r>
            <a:r>
              <a:rPr lang="en-US" sz="2400" b="0" dirty="0">
                <a:solidFill>
                  <a:srgbClr val="FF0000"/>
                </a:solidFill>
                <a:latin typeface="Calibri"/>
                <a:cs typeface="Calibri"/>
              </a:rPr>
              <a:t>(one sentence):  </a:t>
            </a:r>
            <a:r>
              <a:rPr lang="en-US" sz="2400" b="0" dirty="0">
                <a:latin typeface="Calibri"/>
                <a:cs typeface="Calibri"/>
              </a:rPr>
              <a:t>This dataset is interesting because it shows daily COVID-19 testing and positivity trends in Ohio, helping us understand pandemic patterns and responses.</a:t>
            </a:r>
            <a:br>
              <a:rPr lang="en-US" sz="2400" b="0" dirty="0">
                <a:latin typeface="Calibri"/>
                <a:cs typeface="Calibri"/>
              </a:rPr>
            </a:br>
            <a:br>
              <a:rPr lang="en-US" sz="2400" b="0" dirty="0">
                <a:latin typeface="Calibri" panose="020F0502020204030204" pitchFamily="34" charset="0"/>
                <a:cs typeface="Calibri" panose="020F0502020204030204" pitchFamily="34" charset="0"/>
              </a:rPr>
            </a:br>
            <a:r>
              <a:rPr lang="en-US" sz="2400" b="0" i="1" dirty="0">
                <a:solidFill>
                  <a:schemeClr val="accent2">
                    <a:lumMod val="75000"/>
                  </a:schemeClr>
                </a:solidFill>
                <a:latin typeface="Calibri"/>
                <a:cs typeface="Calibri"/>
              </a:rPr>
              <a:t>From the column headings in your dataset choose ONE independent * and ONE dependent variable . </a:t>
            </a:r>
            <a:br>
              <a:rPr lang="en-US" sz="2400" b="0" dirty="0">
                <a:latin typeface="Calibri" panose="020F0502020204030204" pitchFamily="34" charset="0"/>
                <a:cs typeface="Calibri" panose="020F0502020204030204" pitchFamily="34" charset="0"/>
              </a:rPr>
            </a:br>
            <a:r>
              <a:rPr lang="en-US" sz="2400" b="0" dirty="0">
                <a:latin typeface="Calibri"/>
                <a:cs typeface="Calibri"/>
              </a:rPr>
              <a:t>Our  Independent variable is: </a:t>
            </a:r>
            <a:r>
              <a:rPr lang="en-US" sz="2400" b="0" dirty="0">
                <a:solidFill>
                  <a:srgbClr val="FF0000"/>
                </a:solidFill>
                <a:latin typeface="Calibri"/>
                <a:cs typeface="Calibri"/>
              </a:rPr>
              <a:t>Confirmatory and Presumptive Lab Total Tested (Daily)</a:t>
            </a:r>
            <a:br>
              <a:rPr lang="en-US" sz="2400" b="0" dirty="0">
                <a:solidFill>
                  <a:srgbClr val="FF0000"/>
                </a:solidFill>
                <a:latin typeface="Calibri"/>
                <a:cs typeface="Calibri"/>
              </a:rPr>
            </a:br>
            <a:r>
              <a:rPr lang="en-US" sz="2400" b="0" dirty="0">
                <a:solidFill>
                  <a:srgbClr val="FF0000"/>
                </a:solidFill>
                <a:latin typeface="Calibri"/>
                <a:cs typeface="Calibri"/>
              </a:rPr>
              <a:t>                   </a:t>
            </a:r>
            <a:r>
              <a:rPr lang="en-US" sz="2400" b="0" dirty="0">
                <a:latin typeface="Calibri"/>
                <a:cs typeface="Calibri"/>
              </a:rPr>
              <a:t>This  Independent variable datatype is (select one): </a:t>
            </a:r>
            <a:r>
              <a:rPr lang="en-US" sz="2400" b="0" dirty="0">
                <a:solidFill>
                  <a:srgbClr val="FF0000"/>
                </a:solidFill>
                <a:latin typeface="Calibri"/>
                <a:cs typeface="Calibri"/>
              </a:rPr>
              <a:t>measurement data.</a:t>
            </a:r>
            <a:br>
              <a:rPr lang="en-US" sz="2400" b="0" dirty="0">
                <a:latin typeface="Calibri" panose="020F0502020204030204" pitchFamily="34" charset="0"/>
                <a:cs typeface="Calibri" panose="020F0502020204030204" pitchFamily="34" charset="0"/>
              </a:rPr>
            </a:br>
            <a:r>
              <a:rPr lang="en-US" sz="2400" b="0" dirty="0">
                <a:latin typeface="Calibri"/>
                <a:cs typeface="Calibri"/>
              </a:rPr>
              <a:t>Our Dependent variable is: </a:t>
            </a:r>
            <a:r>
              <a:rPr lang="en-US" sz="2400" b="0" dirty="0">
                <a:solidFill>
                  <a:srgbClr val="FF0000"/>
                </a:solidFill>
                <a:latin typeface="Calibri"/>
                <a:cs typeface="Calibri"/>
              </a:rPr>
              <a:t>Confirmatory and Presumptive Lab Percent Positive (Daily)</a:t>
            </a:r>
            <a:br>
              <a:rPr lang="en-US" sz="2400" b="0" dirty="0">
                <a:latin typeface="Calibri" panose="020F0502020204030204" pitchFamily="34" charset="0"/>
                <a:cs typeface="Calibri" panose="020F0502020204030204" pitchFamily="34" charset="0"/>
              </a:rPr>
            </a:br>
            <a:r>
              <a:rPr lang="en-US" sz="2400" b="0" dirty="0">
                <a:solidFill>
                  <a:srgbClr val="FF0000"/>
                </a:solidFill>
                <a:latin typeface="Calibri"/>
                <a:cs typeface="Calibri"/>
              </a:rPr>
              <a:t>                   </a:t>
            </a:r>
            <a:r>
              <a:rPr lang="en-US" sz="2400" b="0" dirty="0">
                <a:latin typeface="Calibri"/>
                <a:cs typeface="Calibri"/>
              </a:rPr>
              <a:t>This Dependent variable datatype is  (select one): </a:t>
            </a:r>
            <a:r>
              <a:rPr lang="en-US" sz="2400" b="0" dirty="0">
                <a:solidFill>
                  <a:srgbClr val="FF0000"/>
                </a:solidFill>
                <a:latin typeface="Calibri"/>
                <a:cs typeface="Calibri"/>
              </a:rPr>
              <a:t>measurement data</a:t>
            </a:r>
          </a:p>
        </p:txBody>
      </p:sp>
      <p:sp>
        <p:nvSpPr>
          <p:cNvPr id="6" name="TextBox 5">
            <a:extLst>
              <a:ext uri="{FF2B5EF4-FFF2-40B4-BE49-F238E27FC236}">
                <a16:creationId xmlns:a16="http://schemas.microsoft.com/office/drawing/2014/main" id="{732D6C0D-D649-2AA9-7741-835F3E841A25}"/>
              </a:ext>
            </a:extLst>
          </p:cNvPr>
          <p:cNvSpPr txBox="1"/>
          <p:nvPr/>
        </p:nvSpPr>
        <p:spPr>
          <a:xfrm>
            <a:off x="6766560" y="5385816"/>
            <a:ext cx="4187952" cy="1200329"/>
          </a:xfrm>
          <a:prstGeom prst="rect">
            <a:avLst/>
          </a:prstGeom>
          <a:noFill/>
        </p:spPr>
        <p:txBody>
          <a:bodyPr wrap="square" rtlCol="0">
            <a:spAutoFit/>
          </a:bodyPr>
          <a:lstStyle/>
          <a:p>
            <a:r>
              <a:rPr lang="en-GB">
                <a:solidFill>
                  <a:schemeClr val="accent2">
                    <a:lumMod val="75000"/>
                  </a:schemeClr>
                </a:solidFill>
              </a:rPr>
              <a:t>*For comparison of two nominal variables and for comparison of proportions you use two (or more) independent variables (see next slide)</a:t>
            </a:r>
          </a:p>
        </p:txBody>
      </p:sp>
    </p:spTree>
    <p:extLst>
      <p:ext uri="{BB962C8B-B14F-4D97-AF65-F5344CB8AC3E}">
        <p14:creationId xmlns:p14="http://schemas.microsoft.com/office/powerpoint/2010/main" val="17180049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230832"/>
          </a:xfrm>
        </p:spPr>
        <p:txBody>
          <a:bodyPr/>
          <a:lstStyle/>
          <a:p>
            <a:pPr>
              <a:spcAft>
                <a:spcPts val="0"/>
              </a:spcAft>
            </a:pPr>
            <a:r>
              <a:rPr lang="en-GB" dirty="0"/>
              <a:t>Our Research Question is </a:t>
            </a:r>
            <a:r>
              <a:rPr lang="en-GB" sz="1800" dirty="0">
                <a:solidFill>
                  <a:srgbClr val="FF0000"/>
                </a:solidFill>
              </a:rPr>
              <a:t>Choose ONE of the three templates below replacing the blue text with your variables – then add hypotheses as shown in next slide:</a:t>
            </a: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a:t>PRE 7COM1079-2025  Student Group No:  ?????</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5" name="Title 4">
            <a:extLst>
              <a:ext uri="{FF2B5EF4-FFF2-40B4-BE49-F238E27FC236}">
                <a16:creationId xmlns:a16="http://schemas.microsoft.com/office/drawing/2014/main" id="{3440DA25-F620-152B-DE9E-776F7B74DFF0}"/>
              </a:ext>
            </a:extLst>
          </p:cNvPr>
          <p:cNvSpPr>
            <a:spLocks noGrp="1"/>
          </p:cNvSpPr>
          <p:nvPr>
            <p:ph type="ctrTitle"/>
          </p:nvPr>
        </p:nvSpPr>
        <p:spPr>
          <a:xfrm>
            <a:off x="965289" y="1893914"/>
            <a:ext cx="10640594" cy="2678085"/>
          </a:xfrm>
        </p:spPr>
        <p:txBody>
          <a:bodyPr>
            <a:noAutofit/>
          </a:bodyPr>
          <a:lstStyle/>
          <a:p>
            <a:pPr>
              <a:lnSpc>
                <a:spcPct val="100000"/>
              </a:lnSpc>
            </a:pPr>
            <a:r>
              <a:rPr lang="en-IE" sz="2400" dirty="0">
                <a:effectLst/>
                <a:latin typeface="Calibri"/>
                <a:ea typeface="Calibri" panose="020F0502020204030204" pitchFamily="34" charset="0"/>
                <a:cs typeface="Times New Roman"/>
              </a:rPr>
              <a:t>Template </a:t>
            </a:r>
            <a:r>
              <a:rPr lang="en-IE" sz="2400" baseline="30000" dirty="0">
                <a:effectLst/>
                <a:latin typeface="Calibri"/>
                <a:ea typeface="Calibri" panose="020F0502020204030204" pitchFamily="34" charset="0"/>
                <a:cs typeface="Times New Roman"/>
              </a:rPr>
              <a:t>1</a:t>
            </a:r>
            <a:r>
              <a:rPr lang="en-IE" sz="2400" dirty="0">
                <a:effectLst/>
                <a:latin typeface="Calibri"/>
                <a:ea typeface="Calibri" panose="020F0502020204030204" pitchFamily="34" charset="0"/>
                <a:cs typeface="Times New Roman"/>
              </a:rPr>
              <a:t>: </a:t>
            </a:r>
            <a:r>
              <a:rPr lang="en-IE" sz="2400" b="0" dirty="0">
                <a:effectLst/>
                <a:latin typeface="Calibri"/>
                <a:ea typeface="Calibri" panose="020F0502020204030204" pitchFamily="34" charset="0"/>
                <a:cs typeface="Times New Roman"/>
              </a:rPr>
              <a:t>Interval/Ordinal vs Interval/Ordinal: </a:t>
            </a:r>
            <a:r>
              <a:rPr lang="en-IE" sz="2800" spc="-100" dirty="0">
                <a:solidFill>
                  <a:srgbClr val="FF0000"/>
                </a:solidFill>
                <a:latin typeface="+mn-lt"/>
                <a:ea typeface="+mn-ea"/>
                <a:cs typeface="+mn-cs"/>
              </a:rPr>
              <a:t>“</a:t>
            </a:r>
            <a:r>
              <a:rPr lang="en-US" sz="2800" spc="-100" dirty="0">
                <a:solidFill>
                  <a:srgbClr val="FF0000"/>
                </a:solidFill>
                <a:latin typeface="+mn-lt"/>
                <a:ea typeface="+mn-ea"/>
                <a:cs typeface="+mn-cs"/>
              </a:rPr>
              <a:t>Is there a correlation between the number of tests conducted daily and the daily positivity rate? ”</a:t>
            </a:r>
            <a:br>
              <a:rPr lang="en-IE" sz="2400" dirty="0">
                <a:effectLst/>
                <a:latin typeface="Calibri" panose="020F0502020204030204" pitchFamily="34" charset="0"/>
                <a:ea typeface="Calibri" panose="020F0502020204030204" pitchFamily="34" charset="0"/>
                <a:cs typeface="Times New Roman" panose="02020603050405020304" pitchFamily="18" charset="0"/>
              </a:rPr>
            </a:br>
            <a:br>
              <a:rPr lang="en-IE" sz="2400" dirty="0">
                <a:effectLst/>
                <a:latin typeface="Calibri" panose="020F0502020204030204" pitchFamily="34" charset="0"/>
                <a:ea typeface="Calibri" panose="020F0502020204030204" pitchFamily="34" charset="0"/>
                <a:cs typeface="Times New Roman" panose="02020603050405020304" pitchFamily="18" charset="0"/>
              </a:rPr>
            </a:br>
            <a:br>
              <a:rPr lang="en-GB" sz="2400" dirty="0">
                <a:effectLst/>
                <a:latin typeface="Calibri" panose="020F0502020204030204" pitchFamily="34" charset="0"/>
                <a:ea typeface="Calibri" panose="020F0502020204030204" pitchFamily="34" charset="0"/>
                <a:cs typeface="Times New Roman" panose="02020603050405020304" pitchFamily="18" charset="0"/>
              </a:rPr>
            </a:br>
            <a:endParaRPr lang="en-GB" sz="2400" dirty="0">
              <a:solidFill>
                <a:srgbClr val="FF0000"/>
              </a:solidFill>
            </a:endParaRPr>
          </a:p>
        </p:txBody>
      </p:sp>
      <p:sp>
        <p:nvSpPr>
          <p:cNvPr id="7" name="TextBox 6">
            <a:extLst>
              <a:ext uri="{FF2B5EF4-FFF2-40B4-BE49-F238E27FC236}">
                <a16:creationId xmlns:a16="http://schemas.microsoft.com/office/drawing/2014/main" id="{F7FEA660-7B39-BC91-3B96-7298CCF66DE1}"/>
              </a:ext>
            </a:extLst>
          </p:cNvPr>
          <p:cNvSpPr txBox="1"/>
          <p:nvPr/>
        </p:nvSpPr>
        <p:spPr>
          <a:xfrm>
            <a:off x="623945" y="5297755"/>
            <a:ext cx="11440040" cy="1477328"/>
          </a:xfrm>
          <a:prstGeom prst="rect">
            <a:avLst/>
          </a:prstGeom>
          <a:solidFill>
            <a:schemeClr val="bg1">
              <a:lumMod val="95000"/>
            </a:schemeClr>
          </a:solidFill>
        </p:spPr>
        <p:txBody>
          <a:bodyPr wrap="square" lIns="91440" tIns="45720" rIns="91440" bIns="45720" rtlCol="0" anchor="t">
            <a:spAutoFit/>
          </a:bodyPr>
          <a:lstStyle/>
          <a:p>
            <a:r>
              <a:rPr lang="en-GB" baseline="30000" dirty="0"/>
              <a:t>1</a:t>
            </a:r>
            <a:r>
              <a:rPr lang="en-GB" b="1" dirty="0">
                <a:latin typeface="Calibri"/>
                <a:cs typeface="Calibri"/>
              </a:rPr>
              <a:t>Correlation</a:t>
            </a:r>
            <a:r>
              <a:rPr lang="en-GB" dirty="0"/>
              <a:t> (</a:t>
            </a:r>
            <a:r>
              <a:rPr lang="en-IE" sz="1800" dirty="0">
                <a:effectLst/>
                <a:latin typeface="Calibri"/>
                <a:ea typeface="Calibri" panose="020F0502020204030204" pitchFamily="34" charset="0"/>
                <a:cs typeface="Times New Roman"/>
              </a:rPr>
              <a:t>Analysis of how </a:t>
            </a:r>
            <a:r>
              <a:rPr lang="en-IE" sz="1800" dirty="0">
                <a:solidFill>
                  <a:srgbClr val="FF0000"/>
                </a:solidFill>
                <a:effectLst/>
                <a:latin typeface="Calibri"/>
                <a:ea typeface="Calibri" panose="020F0502020204030204" pitchFamily="34" charset="0"/>
                <a:cs typeface="Times New Roman"/>
              </a:rPr>
              <a:t>ordinal</a:t>
            </a:r>
            <a:r>
              <a:rPr lang="en-IE" dirty="0">
                <a:solidFill>
                  <a:srgbClr val="FF0000"/>
                </a:solidFill>
                <a:latin typeface="Calibri"/>
                <a:ea typeface="Calibri" panose="020F0502020204030204" pitchFamily="34" charset="0"/>
                <a:cs typeface="Times New Roman"/>
              </a:rPr>
              <a:t>/</a:t>
            </a:r>
            <a:r>
              <a:rPr lang="en-IE" sz="1800" dirty="0">
                <a:solidFill>
                  <a:srgbClr val="FF0000"/>
                </a:solidFill>
                <a:effectLst/>
                <a:latin typeface="Calibri"/>
                <a:ea typeface="Calibri" panose="020F0502020204030204" pitchFamily="34" charset="0"/>
                <a:cs typeface="Times New Roman"/>
              </a:rPr>
              <a:t>interval </a:t>
            </a:r>
            <a:r>
              <a:rPr lang="en-IE" sz="1800" dirty="0">
                <a:solidFill>
                  <a:srgbClr val="00B050"/>
                </a:solidFill>
                <a:effectLst/>
                <a:latin typeface="Calibri"/>
                <a:ea typeface="Calibri" panose="020F0502020204030204" pitchFamily="34" charset="0"/>
                <a:cs typeface="Times New Roman"/>
              </a:rPr>
              <a:t>dependent var</a:t>
            </a:r>
            <a:r>
              <a:rPr lang="en-IE" sz="1800" dirty="0">
                <a:effectLst/>
                <a:latin typeface="Calibri"/>
                <a:ea typeface="Calibri" panose="020F0502020204030204" pitchFamily="34" charset="0"/>
                <a:cs typeface="Times New Roman"/>
              </a:rPr>
              <a:t> </a:t>
            </a:r>
            <a:r>
              <a:rPr lang="en-IE" dirty="0">
                <a:latin typeface="Calibri"/>
                <a:ea typeface="Calibri" panose="020F0502020204030204" pitchFamily="34" charset="0"/>
                <a:cs typeface="Times New Roman"/>
              </a:rPr>
              <a:t>correlates </a:t>
            </a:r>
            <a:r>
              <a:rPr lang="en-IE" sz="1800" dirty="0">
                <a:effectLst/>
                <a:latin typeface="Calibri"/>
                <a:ea typeface="Calibri" panose="020F0502020204030204" pitchFamily="34" charset="0"/>
                <a:cs typeface="Times New Roman"/>
              </a:rPr>
              <a:t>to an </a:t>
            </a:r>
            <a:r>
              <a:rPr lang="en-IE" sz="1800" dirty="0">
                <a:solidFill>
                  <a:srgbClr val="FF0000"/>
                </a:solidFill>
                <a:effectLst/>
                <a:latin typeface="Calibri"/>
                <a:ea typeface="Calibri" panose="020F0502020204030204" pitchFamily="34" charset="0"/>
                <a:cs typeface="Times New Roman"/>
              </a:rPr>
              <a:t>ordinal/interval </a:t>
            </a:r>
            <a:r>
              <a:rPr lang="en-IE" sz="1800" dirty="0">
                <a:solidFill>
                  <a:srgbClr val="00B050"/>
                </a:solidFill>
                <a:effectLst/>
                <a:latin typeface="Calibri"/>
                <a:ea typeface="Calibri" panose="020F0502020204030204" pitchFamily="34" charset="0"/>
                <a:cs typeface="Times New Roman"/>
              </a:rPr>
              <a:t>independent variable)</a:t>
            </a:r>
            <a:endParaRPr lang="en-GB" dirty="0">
              <a:latin typeface="Calibri"/>
              <a:cs typeface="Times New Roman"/>
            </a:endParaRPr>
          </a:p>
          <a:p>
            <a:r>
              <a:rPr lang="en-IE" sz="1800" b="1" baseline="30000" dirty="0">
                <a:effectLst/>
                <a:latin typeface="Calibri" panose="020F0502020204030204" pitchFamily="34" charset="0"/>
                <a:ea typeface="Calibri" panose="020F0502020204030204" pitchFamily="34" charset="0"/>
                <a:cs typeface="Times New Roman" panose="02020603050405020304" pitchFamily="18" charset="0"/>
              </a:rPr>
              <a:t>2</a:t>
            </a:r>
            <a:r>
              <a:rPr lang="en-IE" sz="1800" b="1" dirty="0">
                <a:effectLst/>
                <a:latin typeface="Calibri" panose="020F0502020204030204" pitchFamily="34" charset="0"/>
                <a:ea typeface="Calibri" panose="020F0502020204030204" pitchFamily="34" charset="0"/>
                <a:cs typeface="Times New Roman" panose="02020603050405020304" pitchFamily="18" charset="0"/>
              </a:rPr>
              <a:t>Comparison of means</a:t>
            </a:r>
            <a:r>
              <a:rPr lang="en-IE" sz="1800" dirty="0">
                <a:effectLst/>
                <a:latin typeface="Calibri" panose="020F0502020204030204" pitchFamily="34" charset="0"/>
                <a:ea typeface="Calibri" panose="020F0502020204030204" pitchFamily="34" charset="0"/>
                <a:cs typeface="Times New Roman" panose="02020603050405020304" pitchFamily="18" charset="0"/>
              </a:rPr>
              <a:t> (or medians): Analysis of the difference between the mean (or median) value of a characteristic shared by members of two different populations.</a:t>
            </a:r>
          </a:p>
          <a:p>
            <a:r>
              <a:rPr lang="en-IE" sz="1800" b="1" baseline="30000" dirty="0">
                <a:effectLst/>
                <a:latin typeface="Calibri" panose="020F0502020204030204" pitchFamily="34" charset="0"/>
                <a:ea typeface="Calibri" panose="020F0502020204030204" pitchFamily="34" charset="0"/>
                <a:cs typeface="Times New Roman" panose="02020603050405020304" pitchFamily="18" charset="0"/>
              </a:rPr>
              <a:t>3</a:t>
            </a:r>
            <a:r>
              <a:rPr lang="en-IE" sz="1800" b="1" dirty="0">
                <a:effectLst/>
                <a:latin typeface="Calibri" panose="020F0502020204030204" pitchFamily="34" charset="0"/>
                <a:ea typeface="Calibri" panose="020F0502020204030204" pitchFamily="34" charset="0"/>
                <a:cs typeface="Times New Roman" panose="02020603050405020304" pitchFamily="18" charset="0"/>
              </a:rPr>
              <a:t>Comparison of proportions:</a:t>
            </a:r>
            <a:r>
              <a:rPr lang="en-IE" sz="1800" dirty="0">
                <a:effectLst/>
                <a:latin typeface="Calibri" panose="020F0502020204030204" pitchFamily="34" charset="0"/>
                <a:ea typeface="Calibri" panose="020F0502020204030204" pitchFamily="34" charset="0"/>
                <a:cs typeface="Times New Roman" panose="02020603050405020304" pitchFamily="18" charset="0"/>
              </a:rPr>
              <a:t> Analysis of the difference in proportions of a characteristic shared by members of two different populations. </a:t>
            </a:r>
            <a:endParaRPr lang="en-GB" dirty="0"/>
          </a:p>
        </p:txBody>
      </p:sp>
    </p:spTree>
    <p:extLst>
      <p:ext uri="{BB962C8B-B14F-4D97-AF65-F5344CB8AC3E}">
        <p14:creationId xmlns:p14="http://schemas.microsoft.com/office/powerpoint/2010/main" val="324946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B64221B-D6D4-E382-A91A-99FF908D5475}"/>
              </a:ext>
            </a:extLst>
          </p:cNvPr>
          <p:cNvSpPr>
            <a:spLocks noGrp="1"/>
          </p:cNvSpPr>
          <p:nvPr>
            <p:ph type="subTitle" idx="1"/>
          </p:nvPr>
        </p:nvSpPr>
        <p:spPr>
          <a:xfrm>
            <a:off x="521219" y="284375"/>
            <a:ext cx="10406581" cy="1391600"/>
          </a:xfrm>
        </p:spPr>
        <p:txBody>
          <a:bodyPr vert="horz" lIns="0" tIns="0" rIns="0" bIns="0" rtlCol="0" anchor="t">
            <a:noAutofit/>
          </a:bodyPr>
          <a:lstStyle/>
          <a:p>
            <a:pPr>
              <a:lnSpc>
                <a:spcPct val="100000"/>
              </a:lnSpc>
            </a:pPr>
            <a:r>
              <a:rPr lang="en-GB" sz="2400" b="0" dirty="0">
                <a:latin typeface="Calibri"/>
                <a:cs typeface="Calibri"/>
              </a:rPr>
              <a:t>Add your </a:t>
            </a:r>
            <a:r>
              <a:rPr lang="en-GB" sz="2400" dirty="0">
                <a:latin typeface="Calibri"/>
                <a:cs typeface="Calibri"/>
              </a:rPr>
              <a:t>Hypotheses</a:t>
            </a:r>
            <a:r>
              <a:rPr lang="en-GB" sz="2400" b="0" dirty="0">
                <a:latin typeface="Calibri"/>
                <a:cs typeface="Calibri"/>
              </a:rPr>
              <a:t> to the previous RQ Slide  (both the Null and Alternative Hypotheses).  Here are definitions and examples. </a:t>
            </a:r>
            <a:r>
              <a:rPr lang="en-GB" sz="2400" dirty="0">
                <a:latin typeface="Calibri"/>
                <a:cs typeface="Calibri"/>
              </a:rPr>
              <a:t>Your hypothesis wording comes directly from your RQ</a:t>
            </a:r>
            <a:r>
              <a:rPr lang="en-GB" sz="2400" b="0" dirty="0">
                <a:latin typeface="Calibri"/>
                <a:cs typeface="Calibri"/>
              </a:rPr>
              <a:t>. This is the formal way of reporting the results of your inferential test statistics,  in which we report the </a:t>
            </a:r>
            <a:r>
              <a:rPr lang="en-GB" sz="2400" b="0" i="1" dirty="0">
                <a:latin typeface="Calibri"/>
                <a:cs typeface="Calibri"/>
              </a:rPr>
              <a:t>effect</a:t>
            </a:r>
            <a:r>
              <a:rPr lang="en-GB" sz="2400" b="0" dirty="0">
                <a:latin typeface="Calibri"/>
                <a:cs typeface="Calibri"/>
              </a:rPr>
              <a:t> the independent variable has on the dependent variable – </a:t>
            </a:r>
          </a:p>
          <a:p>
            <a:pPr marL="457200" indent="-457200">
              <a:lnSpc>
                <a:spcPct val="100000"/>
              </a:lnSpc>
              <a:buAutoNum type="arabicPeriod"/>
            </a:pPr>
            <a:r>
              <a:rPr lang="en-GB" sz="2000" b="0" dirty="0">
                <a:latin typeface="Arial"/>
                <a:cs typeface="Arial"/>
              </a:rPr>
              <a:t>Null hypothesis (H</a:t>
            </a:r>
            <a:r>
              <a:rPr lang="en-GB" sz="2000" b="0" baseline="-25000" dirty="0">
                <a:latin typeface="Arial"/>
                <a:cs typeface="Arial"/>
              </a:rPr>
              <a:t>0</a:t>
            </a:r>
            <a:r>
              <a:rPr lang="en-GB" sz="2000" b="0" dirty="0">
                <a:latin typeface="Arial"/>
                <a:cs typeface="Arial"/>
              </a:rPr>
              <a:t>): There is </a:t>
            </a:r>
            <a:r>
              <a:rPr lang="en-GB" sz="2000" dirty="0">
                <a:latin typeface="Arial"/>
                <a:cs typeface="Arial"/>
              </a:rPr>
              <a:t>no </a:t>
            </a:r>
            <a:r>
              <a:rPr lang="en-GB" sz="2000" b="0" dirty="0">
                <a:latin typeface="Arial"/>
                <a:cs typeface="Arial"/>
              </a:rPr>
              <a:t>effect on the population – so you write one of the following:  </a:t>
            </a:r>
          </a:p>
          <a:p>
            <a:pPr>
              <a:lnSpc>
                <a:spcPct val="100000"/>
              </a:lnSpc>
            </a:pPr>
            <a:r>
              <a:rPr lang="en-GB" sz="2000" b="0" dirty="0">
                <a:solidFill>
                  <a:srgbClr val="FF0000"/>
                </a:solidFill>
                <a:latin typeface="Arial"/>
                <a:cs typeface="Arial"/>
              </a:rPr>
              <a:t>Null hypothesis (H</a:t>
            </a:r>
            <a:r>
              <a:rPr lang="en-GB" sz="2000" b="0" baseline="-25000" dirty="0">
                <a:solidFill>
                  <a:srgbClr val="FF0000"/>
                </a:solidFill>
                <a:latin typeface="Arial"/>
                <a:cs typeface="Arial"/>
              </a:rPr>
              <a:t>0</a:t>
            </a:r>
            <a:r>
              <a:rPr lang="en-GB" sz="2000" b="0" dirty="0">
                <a:solidFill>
                  <a:srgbClr val="FF0000"/>
                </a:solidFill>
                <a:latin typeface="Arial"/>
                <a:cs typeface="Arial"/>
              </a:rPr>
              <a:t>): </a:t>
            </a:r>
            <a:r>
              <a:rPr lang="en-US" sz="2000" b="0" dirty="0">
                <a:solidFill>
                  <a:srgbClr val="FF0000"/>
                </a:solidFill>
                <a:cs typeface="Arial"/>
              </a:rPr>
              <a:t>There is no correlation between daily testing volume and daily positivity rate.</a:t>
            </a:r>
          </a:p>
          <a:p>
            <a:pPr>
              <a:lnSpc>
                <a:spcPct val="100000"/>
              </a:lnSpc>
            </a:pPr>
            <a:r>
              <a:rPr lang="en-GB" sz="2000" b="0" dirty="0">
                <a:latin typeface="Arial"/>
                <a:cs typeface="Arial"/>
              </a:rPr>
              <a:t>2. Alternative hypothesis (H</a:t>
            </a:r>
            <a:r>
              <a:rPr lang="en-GB" sz="2000" b="0" baseline="-25000" dirty="0">
                <a:latin typeface="Arial"/>
                <a:cs typeface="Arial"/>
              </a:rPr>
              <a:t>1</a:t>
            </a:r>
            <a:r>
              <a:rPr lang="en-GB" sz="2000" b="0" dirty="0">
                <a:latin typeface="Arial"/>
                <a:cs typeface="Arial"/>
              </a:rPr>
              <a:t>):  There appears to be an effect on the population – so you copy what you wrote for the Null hypothesis but remove the ‘no’ and replace with ‘</a:t>
            </a:r>
            <a:r>
              <a:rPr lang="en-GB" sz="2000" dirty="0">
                <a:latin typeface="Arial"/>
                <a:cs typeface="Arial"/>
              </a:rPr>
              <a:t>a’  </a:t>
            </a:r>
            <a:r>
              <a:rPr lang="en-GB" sz="2000" b="0" dirty="0">
                <a:latin typeface="Arial"/>
                <a:cs typeface="Arial"/>
              </a:rPr>
              <a:t>For example:</a:t>
            </a:r>
          </a:p>
          <a:p>
            <a:pPr>
              <a:lnSpc>
                <a:spcPct val="100000"/>
              </a:lnSpc>
            </a:pPr>
            <a:r>
              <a:rPr lang="en-GB" sz="2000" b="0" dirty="0">
                <a:solidFill>
                  <a:srgbClr val="FF0000"/>
                </a:solidFill>
                <a:latin typeface="Arial"/>
                <a:cs typeface="Arial"/>
              </a:rPr>
              <a:t>Alt hypothesis (H</a:t>
            </a:r>
            <a:r>
              <a:rPr lang="en-GB" sz="2000" b="0" baseline="-25000" dirty="0">
                <a:solidFill>
                  <a:srgbClr val="FF0000"/>
                </a:solidFill>
                <a:latin typeface="Arial"/>
                <a:cs typeface="Arial"/>
              </a:rPr>
              <a:t>1</a:t>
            </a:r>
            <a:r>
              <a:rPr lang="en-GB" sz="2000" b="0" dirty="0">
                <a:solidFill>
                  <a:srgbClr val="FF0000"/>
                </a:solidFill>
                <a:latin typeface="Arial"/>
                <a:cs typeface="Arial"/>
              </a:rPr>
              <a:t>): </a:t>
            </a:r>
            <a:r>
              <a:rPr lang="en-US" sz="2000" b="0" dirty="0">
                <a:solidFill>
                  <a:srgbClr val="FF0000"/>
                </a:solidFill>
                <a:cs typeface="Arial"/>
              </a:rPr>
              <a:t>There is a correlation between daily testing volume and daily positivity rate.</a:t>
            </a:r>
            <a:endParaRPr lang="en-GB" sz="2000" b="0" dirty="0">
              <a:solidFill>
                <a:srgbClr val="FF0000"/>
              </a:solidFill>
              <a:latin typeface="Arial"/>
              <a:cs typeface="Arial"/>
            </a:endParaRPr>
          </a:p>
        </p:txBody>
      </p:sp>
      <p:sp>
        <p:nvSpPr>
          <p:cNvPr id="4" name="Slide Number Placeholder 3">
            <a:extLst>
              <a:ext uri="{FF2B5EF4-FFF2-40B4-BE49-F238E27FC236}">
                <a16:creationId xmlns:a16="http://schemas.microsoft.com/office/drawing/2014/main" id="{FF7EDF94-2B89-A21D-BBC0-E455C2D9893B}"/>
              </a:ext>
            </a:extLst>
          </p:cNvPr>
          <p:cNvSpPr>
            <a:spLocks noGrp="1"/>
          </p:cNvSpPr>
          <p:nvPr>
            <p:ph type="sldNum" sz="quarter" idx="12"/>
          </p:nvPr>
        </p:nvSpPr>
        <p:spPr>
          <a:xfrm>
            <a:off x="11269543" y="284375"/>
            <a:ext cx="558281" cy="221244"/>
          </a:xfrm>
        </p:spPr>
        <p:txBody>
          <a:bodyPr/>
          <a:lstStyle/>
          <a:p>
            <a:r>
              <a:rPr lang="en-US"/>
              <a:t>4</a:t>
            </a:r>
            <a:endParaRPr lang="en-GB"/>
          </a:p>
        </p:txBody>
      </p:sp>
      <p:sp>
        <p:nvSpPr>
          <p:cNvPr id="6" name="TextBox 5">
            <a:extLst>
              <a:ext uri="{FF2B5EF4-FFF2-40B4-BE49-F238E27FC236}">
                <a16:creationId xmlns:a16="http://schemas.microsoft.com/office/drawing/2014/main" id="{1841CE34-1B2E-88D5-0C3F-506E8C37BB7B}"/>
              </a:ext>
            </a:extLst>
          </p:cNvPr>
          <p:cNvSpPr txBox="1"/>
          <p:nvPr/>
        </p:nvSpPr>
        <p:spPr>
          <a:xfrm>
            <a:off x="3356146" y="5298491"/>
            <a:ext cx="7811780" cy="1477328"/>
          </a:xfrm>
          <a:prstGeom prst="rect">
            <a:avLst/>
          </a:prstGeom>
          <a:noFill/>
        </p:spPr>
        <p:txBody>
          <a:bodyPr wrap="square" lIns="91440" tIns="45720" rIns="91440" bIns="45720" anchor="t">
            <a:spAutoFit/>
          </a:bodyPr>
          <a:lstStyle/>
          <a:p>
            <a:r>
              <a:rPr lang="en-GB"/>
              <a:t>L</a:t>
            </a:r>
            <a:r>
              <a:rPr lang="en-GB" sz="1800" b="0"/>
              <a:t>eave the hypotheses as </a:t>
            </a:r>
            <a:r>
              <a:rPr lang="en-GB"/>
              <a:t>two </a:t>
            </a:r>
            <a:r>
              <a:rPr lang="en-GB" sz="1800" b="0"/>
              <a:t>statements for now – after your </a:t>
            </a:r>
            <a:r>
              <a:rPr lang="en-GB"/>
              <a:t>statistical </a:t>
            </a:r>
            <a:r>
              <a:rPr lang="en-GB" sz="1800" b="0"/>
              <a:t>analysis </a:t>
            </a:r>
            <a:r>
              <a:rPr lang="en-GB"/>
              <a:t>test, </a:t>
            </a:r>
            <a:r>
              <a:rPr lang="en-GB" sz="1800" b="0"/>
              <a:t>you </a:t>
            </a:r>
            <a:r>
              <a:rPr lang="en-GB"/>
              <a:t>will </a:t>
            </a:r>
            <a:r>
              <a:rPr lang="en-GB" sz="1800" b="0"/>
              <a:t>choose one or the other.</a:t>
            </a:r>
            <a:r>
              <a:rPr lang="en-GB"/>
              <a:t> (</a:t>
            </a:r>
            <a:r>
              <a:rPr lang="en-GB" i="1"/>
              <a:t>You will report: "We fail to reject the null hypothesis" with no significant result, or if you do have significance [p-value = &lt; 0.05] you can state "We reject the null hypothesis".   More guidance on hypothesis testing is given in the lectures</a:t>
            </a:r>
            <a:r>
              <a:rPr lang="en-GB"/>
              <a:t>.)</a:t>
            </a:r>
            <a:endParaRPr lang="en-GB">
              <a:cs typeface="Arial"/>
            </a:endParaRPr>
          </a:p>
        </p:txBody>
      </p:sp>
    </p:spTree>
    <p:extLst>
      <p:ext uri="{BB962C8B-B14F-4D97-AF65-F5344CB8AC3E}">
        <p14:creationId xmlns:p14="http://schemas.microsoft.com/office/powerpoint/2010/main" val="2952338475"/>
      </p:ext>
    </p:extLst>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DD1FC41-23C7-41B0-B5F9-BF4CD38AD2ED}">
  <ds:schemaRefs>
    <ds:schemaRef ds:uri="3c474641-ec36-472f-b125-6b1b0910eaa4"/>
    <ds:schemaRef ds:uri="4ad138b4-2b68-4b70-945d-07f8f18b1c9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421B8C57-903D-4D0E-8336-7B512F760CD1}">
  <ds:schemaRefs>
    <ds:schemaRef ds:uri="3c474641-ec36-472f-b125-6b1b0910eaa4"/>
    <ds:schemaRef ds:uri="4ad138b4-2b68-4b70-945d-07f8f18b1c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1C521DD-2673-4EE6-BB9B-DC5C3320FFB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55</TotalTime>
  <Words>1095</Words>
  <Application>Microsoft Office PowerPoint</Application>
  <PresentationFormat>Widescreen</PresentationFormat>
  <Paragraphs>42</Paragraphs>
  <Slides>6</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Herts Theme</vt:lpstr>
      <vt:lpstr>PowerPoint Presentation</vt:lpstr>
      <vt:lpstr>Research Question –  Tutorial Presentation for Feedback Date:  </vt:lpstr>
      <vt:lpstr> Two Columns Names are -  Confirmatory and Presumptive Lab Total Tested (Daily)  And Confirmatory and Presumptive Lab Percent Positive (Daily)  Our Dataset Has 756 Rows  </vt:lpstr>
      <vt:lpstr>This dataset is interesting to us because (one sentence):  This dataset is interesting because it shows daily COVID-19 testing and positivity trends in Ohio, helping us understand pandemic patterns and responses.  From the column headings in your dataset choose ONE independent * and ONE dependent variable .  Our  Independent variable is: Confirmatory and Presumptive Lab Total Tested (Daily)                    This  Independent variable datatype is (select one): measurement data. Our Dependent variable is: Confirmatory and Presumptive Lab Percent Positive (Daily)                    This Dependent variable datatype is  (select one): measurement data</vt:lpstr>
      <vt:lpstr>Template 1: Interval/Ordinal vs Interval/Ordinal: “Is there a correlation between the number of tests conducted daily and the daily positivity rate? ”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Joanne Harwood</dc:creator>
  <cp:lastModifiedBy>Sayed Harun [Student-PECS]</cp:lastModifiedBy>
  <cp:revision>121</cp:revision>
  <dcterms:created xsi:type="dcterms:W3CDTF">2019-10-01T08:37:56Z</dcterms:created>
  <dcterms:modified xsi:type="dcterms:W3CDTF">2025-12-02T22:38:30Z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ies>
</file>